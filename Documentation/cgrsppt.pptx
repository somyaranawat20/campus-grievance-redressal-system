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72" r:id="rId4"/>
    <p:sldId id="273" r:id="rId5"/>
    <p:sldId id="274" r:id="rId6"/>
    <p:sldId id="258" r:id="rId7"/>
    <p:sldId id="275" r:id="rId8"/>
    <p:sldId id="276" r:id="rId9"/>
    <p:sldId id="277" r:id="rId10"/>
    <p:sldId id="27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79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B25F89-AE1F-AF1E-AA0B-751127A38DCF}" name="somyaranawat1@gmail.com" initials="s" userId="65f0c65eaf14e41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588EF-84C8-4EF1-918B-819DC3EF126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256FB-590C-4A5E-8BA5-86D79AFB5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601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256FB-590C-4A5E-8BA5-86D79AFB57C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377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C069-3482-498A-819B-EEAACE98C03B}" type="datetime1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09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5A19-4447-4367-A63C-B4064C52B20A}" type="datetime1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3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4BA9-5B75-4A82-9ED9-75B2ABCFC8B9}" type="datetime1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798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509C-8C95-42AA-A724-22721DF30134}" type="datetime1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03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E0F1-B459-41A3-921C-8D4374D30319}" type="datetime1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48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1017D-9AAC-4FA3-9B61-818FD90F9476}" type="datetime1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95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81BF-9445-407B-9566-49CCB5D36381}" type="datetime1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5D3-5216-446B-8055-18923BB67CED}" type="datetime1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947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BD95-C1DB-4060-8B3C-630939E344EA}" type="datetime1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41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F56B-1B8F-4B4B-BE38-0C2D3E97433E}" type="datetime1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42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FAE5-E2D1-4E4B-BA2B-3F85F9777799}" type="datetime1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14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D1A8F-0DE1-46F6-93F7-2C8991CC6AB4}" type="datetime1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F8A30-F9B9-4404-8D94-D2218844C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35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131" y="307715"/>
            <a:ext cx="8836429" cy="740435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Bell MT" panose="02020503060305020303" pitchFamily="18" charset="0"/>
              </a:rPr>
              <a:t>        </a:t>
            </a:r>
            <a:r>
              <a:rPr lang="en-US" sz="3100" b="1" dirty="0">
                <a:latin typeface="Bell MT" panose="02020503060305020303" pitchFamily="18" charset="0"/>
              </a:rPr>
              <a:t>School of Computer Science &amp; IT, DAVV, Indore</a:t>
            </a:r>
            <a:endParaRPr lang="en-IN" sz="3600" b="1" dirty="0">
              <a:latin typeface="Bell MT" panose="0202050306030502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848" y="2498771"/>
            <a:ext cx="6858000" cy="16557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Mid-Term Presentation-II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MCA (Integrated) IV Semester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Jan-May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957" y="4655277"/>
            <a:ext cx="8021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Submitted by                                                                          Guided By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Somya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Ranawat                                                    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Dr. Mohit Kumar Varma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</a:t>
            </a: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66" y="245451"/>
            <a:ext cx="1072341" cy="10679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481263" y="1481073"/>
            <a:ext cx="82304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Campus Grievance Redressal System</a:t>
            </a:r>
          </a:p>
          <a:p>
            <a:pPr algn="ctr"/>
            <a:endParaRPr lang="en-IN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35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01649"/>
            <a:ext cx="7886700" cy="1516729"/>
          </a:xfrm>
        </p:spPr>
        <p:txBody>
          <a:bodyPr>
            <a:normAutofit fontScale="90000"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system for reporting, tracking, and resolving campus grievances efficiently and transparently.</a:t>
            </a:r>
            <a:endParaRPr lang="en-IN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97767"/>
            <a:ext cx="8149590" cy="39791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5873" y="6356351"/>
            <a:ext cx="3086100" cy="365125"/>
          </a:xfrm>
        </p:spPr>
        <p:txBody>
          <a:bodyPr/>
          <a:lstStyle/>
          <a:p>
            <a:r>
              <a:rPr lang="en-IN" dirty="0"/>
              <a:t>SCSIT, DAVV, Indore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D231F0-9AF3-A10C-81D9-35BEF6963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295" y="2929891"/>
            <a:ext cx="6379945" cy="342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0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499AB-2D3E-DD38-8D0A-8F644E8D6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05853"/>
            <a:ext cx="7721266" cy="5471110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: </a:t>
            </a:r>
          </a:p>
          <a:p>
            <a:pPr marL="0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status tracking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Admin-based resolution system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maintenance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grievance submission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 as proof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10DF2-93F0-6FA4-E909-FB088D83A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861134" cy="365125"/>
          </a:xfrm>
        </p:spPr>
        <p:txBody>
          <a:bodyPr/>
          <a:lstStyle/>
          <a:p>
            <a:r>
              <a:rPr lang="en-IN" dirty="0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9A21F-71C8-064F-3CFE-613ECB3DE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716E7B-EAB4-B311-0172-42BF9BF89C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534" y="3096126"/>
            <a:ext cx="3574382" cy="305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03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0940-C98F-3593-B968-047E1FE6F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Functional and 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41364-CB8C-4454-201B-1C294F619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Functional Requirements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 functional requirements describe the core features of the system:</a:t>
            </a:r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User registration and login functionality </a:t>
            </a:r>
          </a:p>
          <a:p>
            <a:pPr lvl="0"/>
            <a:r>
              <a:rPr lang="en-IN" dirty="0"/>
              <a:t>Submission of grievances by faculties </a:t>
            </a:r>
          </a:p>
          <a:p>
            <a:pPr lvl="0"/>
            <a:r>
              <a:rPr lang="en-IN" dirty="0"/>
              <a:t>Categorization of complaints </a:t>
            </a:r>
          </a:p>
          <a:p>
            <a:pPr lvl="0"/>
            <a:r>
              <a:rPr lang="en-IN" dirty="0"/>
              <a:t>Viewing and tracking complaint status </a:t>
            </a:r>
          </a:p>
          <a:p>
            <a:pPr lvl="0"/>
            <a:r>
              <a:rPr lang="en-IN" dirty="0"/>
              <a:t>Admin dashboard for managing complaints </a:t>
            </a:r>
          </a:p>
          <a:p>
            <a:pPr lvl="0"/>
            <a:r>
              <a:rPr lang="en-IN" dirty="0"/>
              <a:t>Updating grievance status (Pending, In Progress, Resolved) </a:t>
            </a:r>
          </a:p>
          <a:p>
            <a:pPr lvl="0"/>
            <a:r>
              <a:rPr lang="en-IN" dirty="0"/>
              <a:t>Managing categories of complaints </a:t>
            </a:r>
          </a:p>
          <a:p>
            <a:pPr lvl="0"/>
            <a:r>
              <a:rPr lang="en-IN" dirty="0"/>
              <a:t>Sending notifications or updates to users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A1121-2EF6-5857-2A17-95AF7562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70F38-6185-A8AD-58F0-A223EB80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549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DFBF1-000E-7530-6465-D68EC7A6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2400" b="1" dirty="0"/>
            </a:br>
            <a:br>
              <a:rPr lang="en-IN" sz="2400" b="1" dirty="0"/>
            </a:br>
            <a:r>
              <a:rPr lang="en-IN" sz="2400" b="1" dirty="0"/>
              <a:t> Non-Functional Requirements</a:t>
            </a:r>
            <a:br>
              <a:rPr lang="en-IN" sz="2400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D474-4031-CC9D-1AF2-6117883D3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400" dirty="0"/>
              <a:t>The non-functional requirements define the quality attributes of the system:</a:t>
            </a:r>
          </a:p>
          <a:p>
            <a:pPr lvl="0"/>
            <a:r>
              <a:rPr lang="en-IN" sz="2400" b="1" dirty="0"/>
              <a:t>Performance:</a:t>
            </a:r>
            <a:r>
              <a:rPr lang="en-IN" sz="2400" dirty="0"/>
              <a:t> The system should respond quickly to user requests </a:t>
            </a:r>
          </a:p>
          <a:p>
            <a:pPr lvl="0"/>
            <a:r>
              <a:rPr lang="en-IN" sz="2400" b="1" dirty="0"/>
              <a:t>Security:</a:t>
            </a:r>
            <a:r>
              <a:rPr lang="en-IN" sz="2400" dirty="0"/>
              <a:t> User data must be protected with proper authentication and authorization </a:t>
            </a:r>
          </a:p>
          <a:p>
            <a:pPr lvl="0"/>
            <a:r>
              <a:rPr lang="en-IN" sz="2400" b="1" dirty="0"/>
              <a:t>Reliability:</a:t>
            </a:r>
            <a:r>
              <a:rPr lang="en-IN" sz="2400" dirty="0"/>
              <a:t> The system should function without failure </a:t>
            </a:r>
          </a:p>
          <a:p>
            <a:pPr lvl="0"/>
            <a:r>
              <a:rPr lang="en-IN" sz="2400" b="1" dirty="0"/>
              <a:t>Usability:</a:t>
            </a:r>
            <a:r>
              <a:rPr lang="en-IN" sz="2400" dirty="0"/>
              <a:t> The interface should be user-friendly and easy to navigate </a:t>
            </a:r>
          </a:p>
          <a:p>
            <a:pPr lvl="0"/>
            <a:r>
              <a:rPr lang="en-IN" sz="2400" b="1" dirty="0"/>
              <a:t>Scalability:</a:t>
            </a:r>
            <a:r>
              <a:rPr lang="en-IN" sz="2400" dirty="0"/>
              <a:t> The system should handle increasing number of users </a:t>
            </a:r>
          </a:p>
          <a:p>
            <a:pPr lvl="0"/>
            <a:r>
              <a:rPr lang="en-IN" sz="2400" b="1" dirty="0"/>
              <a:t>Availability:</a:t>
            </a:r>
            <a:r>
              <a:rPr lang="en-IN" sz="2400" dirty="0"/>
              <a:t> The system should be accessible at all times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E710EC-51A8-67B4-FCBF-23AEEC80A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3B0FE-2293-F40A-4E20-E0C14BB1F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25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50FC9-5DD7-8B27-C518-3860E87E9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: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EB90D-1BCA-FA94-5EDC-D169E8215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Java, Spring Boot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ORM: Hibernate (JPA)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Spring Security + JWT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Maven, Postman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09181-F084-A0D1-A63F-CFB89462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5486400" cy="365125"/>
          </a:xfrm>
        </p:spPr>
        <p:txBody>
          <a:bodyPr/>
          <a:lstStyle/>
          <a:p>
            <a:r>
              <a:rPr lang="en-IN" dirty="0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76E43-0B83-863C-F776-7466CC82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6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AE2D85-F785-0B52-AF0A-E834B64CC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632" y="1870076"/>
            <a:ext cx="2940718" cy="388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8FF1-27FD-6986-0DD0-8977BC5B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DFD(Data Flow Diagram)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4AC213-6E48-73CD-5FE3-F2DD12360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28890-671D-9344-AB11-F2EC81F9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7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AD2D56-FE6D-5F51-B85E-8993A943D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653" y="1690688"/>
            <a:ext cx="5291306" cy="19669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0AAE48-049F-25F1-C17C-3482C94590EB}"/>
              </a:ext>
            </a:extLst>
          </p:cNvPr>
          <p:cNvSpPr txBox="1"/>
          <p:nvPr/>
        </p:nvSpPr>
        <p:spPr>
          <a:xfrm>
            <a:off x="3569368" y="3685673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DFD LEVEL 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9285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C3BB86-9D78-FBAF-FF08-DD711885A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03DA3A-5B65-1E2C-5EC9-B35CB938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BCB86-1D64-F61F-415B-D339895723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574" y="1090863"/>
            <a:ext cx="5365583" cy="30072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FFC9DB-D3B5-50F2-2DDE-00B5F5C1D922}"/>
              </a:ext>
            </a:extLst>
          </p:cNvPr>
          <p:cNvSpPr txBox="1"/>
          <p:nvPr/>
        </p:nvSpPr>
        <p:spPr>
          <a:xfrm>
            <a:off x="3943350" y="4407386"/>
            <a:ext cx="1783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DFD LEVEL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922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41EB4C-E649-604C-2558-E4BA6603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D39CBF-9381-BBD3-A77F-D5A8EDEF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C4149-BE47-21CD-4F23-EFD5D3453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586" y="563479"/>
            <a:ext cx="4362450" cy="4191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D40526-6B64-0FFB-56FA-F6E8E58183C6}"/>
              </a:ext>
            </a:extLst>
          </p:cNvPr>
          <p:cNvSpPr txBox="1"/>
          <p:nvPr/>
        </p:nvSpPr>
        <p:spPr>
          <a:xfrm>
            <a:off x="3344779" y="4920734"/>
            <a:ext cx="2406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9421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D938E6-DAE5-913E-C931-9D47A98B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1939290" cy="365125"/>
          </a:xfrm>
        </p:spPr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3FF923-5978-50F6-E530-F721D26D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10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5FBF7-D49E-0E1C-1322-5056538921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26" y="410210"/>
            <a:ext cx="5277485" cy="1767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D3E69E-FB15-B2AF-7316-738429E61E7C}"/>
              </a:ext>
            </a:extLst>
          </p:cNvPr>
          <p:cNvSpPr txBox="1"/>
          <p:nvPr/>
        </p:nvSpPr>
        <p:spPr>
          <a:xfrm>
            <a:off x="3741420" y="2368034"/>
            <a:ext cx="1661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ER Diagram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534DA4-1550-07E0-50F2-CF974570E1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892" y="3032760"/>
            <a:ext cx="5276215" cy="25222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930917-C08D-6DEA-1ADE-7C868A9FBFA0}"/>
              </a:ext>
            </a:extLst>
          </p:cNvPr>
          <p:cNvSpPr txBox="1"/>
          <p:nvPr/>
        </p:nvSpPr>
        <p:spPr>
          <a:xfrm>
            <a:off x="3505200" y="5586333"/>
            <a:ext cx="2354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Use Case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803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EB8D9-F734-1313-B98B-30C5124E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6568"/>
            <a:ext cx="7886700" cy="160905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Page 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allows users to log in securely into the system.  </a:t>
            </a:r>
            <a:endParaRPr lang="en-IN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521401-A967-98AD-58B5-0B8A5FE3A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42" y="2085473"/>
            <a:ext cx="7804483" cy="44757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DB57A-3667-604C-FDFC-0BD9FF7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4C80C-84A2-034F-F0DB-FA936C6C1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5395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E3EA-150A-0970-E024-D679C403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7200"/>
            <a:ext cx="7681161" cy="123348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Register Page 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users enter their details like name ,email and password       to create an account 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9B977F-5FDF-9655-329A-06E3B58D0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" y="1825625"/>
            <a:ext cx="6962140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737F2-7241-4AC7-9514-D4601BD9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05CE79-F657-3F53-493B-3CEE17F78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26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6E80-7920-7327-3BBA-B350FE815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Grievance Submission Page: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allows users to submit their grievance easily.</a:t>
            </a:r>
            <a:endParaRPr lang="en-IN" sz="2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0D9447-1394-F3A7-FAEC-D7A636E3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A0BE9-BCD6-0E5D-3FA7-824E419E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13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021126-C744-62B5-38EE-E31DACB2A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" y="1825625"/>
            <a:ext cx="69621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50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C560-A786-C15F-4F35-2E3DA73A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9283"/>
            <a:ext cx="7886700" cy="1676400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Grievance Details Submission Page 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users provide detailed information about their grievances and can upload image as proof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FC999-F155-F9CB-8B58-1CD65340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8C1D9-FFC6-C236-8DB1-B28FC6FA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14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180AE2-D633-EEFE-4227-D1E7EEACC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" y="2165683"/>
            <a:ext cx="6962140" cy="432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7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FAB1A2-AA73-2033-C819-2A6DA4AF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DD90EA-B486-6C5C-BAAF-5BEEBE67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15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A1621A-CB11-9554-7B26-E47ED56F3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36524"/>
            <a:ext cx="8510338" cy="2903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2E435F-6E12-DD9B-7FCE-E1CDB28BF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74" y="3152274"/>
            <a:ext cx="8678779" cy="356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30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2F4A-FE98-CD83-482E-63A7788F1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76847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admin dashboard where the admin can view all grievances in one place </a:t>
            </a:r>
            <a:endParaRPr lang="en-IN" sz="2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CD644-73E8-2719-41BB-CEFBAA77D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9B72D-68D1-DF53-6D2E-5F0833B0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16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D11CBB-C9D3-D11B-7E36-84F465A104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2414588"/>
            <a:ext cx="601980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84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87135-DF9E-E428-D680-83A2D1754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Grievance Management Page 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manage grievances by reviewing ,updating and resolving them</a:t>
            </a:r>
            <a:endParaRPr lang="en-IN" sz="2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995F3-1ED6-36A3-8A1A-01972F717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AB0D5-02AE-AB1B-7CAF-CA3AC55C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17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448534-134A-6B0E-6C90-47BD0A0F3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" y="1825625"/>
            <a:ext cx="69621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88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2F31-646C-C909-796C-641D9232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460499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Grievance Status Update :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updates the status of grievances and users can track it in real time</a:t>
            </a:r>
            <a:endParaRPr lang="en-IN" sz="2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4BFB2-B6F3-A5F3-3CFB-C6D0061D7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FFC37-72A7-C0E8-2DF5-B7BCC89C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18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8AE743-5E71-75A4-936C-A19888F9C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" y="2045367"/>
            <a:ext cx="6962140" cy="431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41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99166-F49D-471D-18C0-742CE5EB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&amp; Analytics Page :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5328F-A052-7491-1D2A-5384101D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3D6A8-0E47-2A60-30F0-5E6DA145C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19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6A0078-BF5E-5486-0111-38BE79227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" y="1825625"/>
            <a:ext cx="69621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418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D86AD-4C05-1760-0AFB-E9B1D9C6C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78DDD-6428-276A-7BE3-BF1428C55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7747"/>
            <a:ext cx="7886700" cy="4749216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Complaint Resolution Time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Complaint Management System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Better Communication between Users and Admin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Tracking of Complaints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402A1-BFAF-6F84-843E-F2A0F0745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434A2-4537-D43B-AF23-3C4147969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20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FA8602-17B5-5F77-D897-C8C09D890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578" y="4203032"/>
            <a:ext cx="6340590" cy="197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54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9853-5F6C-F131-FF9F-E02A59DFB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References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48C13-BF1F-F098-B258-C7608D86E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822575"/>
          </a:xfrm>
        </p:spPr>
        <p:txBody>
          <a:bodyPr/>
          <a:lstStyle/>
          <a:p>
            <a:r>
              <a:rPr lang="en-IN" sz="240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en-IN" sz="2400" spc="-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en-IN" sz="2400" spc="-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IN" sz="2400" spc="1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2400" spc="-1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spring.io</a:t>
            </a:r>
          </a:p>
          <a:p>
            <a:r>
              <a:rPr lang="en-IN" sz="2400" spc="-1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IN" sz="2400" spc="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Official</a:t>
            </a:r>
            <a:r>
              <a:rPr lang="en-IN" sz="2400" spc="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lang="en-IN" sz="2400" spc="2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2400" spc="-1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thymeleaf.org</a:t>
            </a:r>
          </a:p>
          <a:p>
            <a:r>
              <a:rPr lang="en-IN" sz="2400" spc="-1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2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 sz="2400" spc="-5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3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400" spc="-4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3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IN" sz="2400" spc="-5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spc="-5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mysql.com</a:t>
            </a:r>
          </a:p>
          <a:p>
            <a:r>
              <a:rPr lang="en-IN" sz="2400" spc="-1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3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en-IN" sz="2400" spc="-5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3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en-IN" sz="2400" spc="-5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3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IN" sz="2400" spc="-4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spc="-5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3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maven.apache.org </a:t>
            </a:r>
          </a:p>
          <a:p>
            <a:r>
              <a:rPr lang="en-IN" sz="2400" spc="-1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RESTful</a:t>
            </a:r>
            <a:r>
              <a:rPr lang="en-IN" sz="2400" spc="-6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2400" spc="-65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IN" sz="2400" spc="-7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rgbClr val="4848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Guidelines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A1C22-83A9-9830-9125-14869D8A4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SCSIT, DAVV, Indore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D1043-8B7D-AC75-EFE3-8C1BC2E46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131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D3D25E-7ACE-88AD-3A6D-488D7DC75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5116" y="6356351"/>
            <a:ext cx="2057400" cy="365125"/>
          </a:xfrm>
        </p:spPr>
        <p:txBody>
          <a:bodyPr/>
          <a:lstStyle/>
          <a:p>
            <a:r>
              <a:rPr lang="en-IN" dirty="0"/>
              <a:t>SCSIT, DAVV, Indore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DBA31A-F99A-AB8F-85B0-45D4419B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F8A30-F9B9-4404-8D94-D2218844C6F7}" type="slidenum">
              <a:rPr lang="en-IN" smtClean="0"/>
              <a:t>22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44CF6A-FEDC-B101-AD85-D9F5647A5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578" y="2141541"/>
            <a:ext cx="4612106" cy="257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553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</TotalTime>
  <Words>607</Words>
  <Application>Microsoft Office PowerPoint</Application>
  <PresentationFormat>On-screen Show (4:3)</PresentationFormat>
  <Paragraphs>115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Bell MT</vt:lpstr>
      <vt:lpstr>Calibri</vt:lpstr>
      <vt:lpstr>Calibri Light</vt:lpstr>
      <vt:lpstr>Times New Roman</vt:lpstr>
      <vt:lpstr>Office Theme</vt:lpstr>
      <vt:lpstr>        School of Computer Science &amp; IT, DAVV, Indore</vt:lpstr>
      <vt:lpstr> Aim:   To create a system for reporting, tracking, and resolving campus grievances efficiently and transparently.</vt:lpstr>
      <vt:lpstr>PowerPoint Presentation</vt:lpstr>
      <vt:lpstr>Functional and Non-Functional Requirements</vt:lpstr>
      <vt:lpstr>   Non-Functional Requirements </vt:lpstr>
      <vt:lpstr>Technologies Used :</vt:lpstr>
      <vt:lpstr>DFD(Data Flow Diagram)</vt:lpstr>
      <vt:lpstr>PowerPoint Presentation</vt:lpstr>
      <vt:lpstr>PowerPoint Presentation</vt:lpstr>
      <vt:lpstr>PowerPoint Presentation</vt:lpstr>
      <vt:lpstr>User Login Page :  This page allows users to log in securely into the system.  </vt:lpstr>
      <vt:lpstr> User Register Page : Here, users enter their details like name ,email and password       to create an account  </vt:lpstr>
      <vt:lpstr> User Grievance Submission Page:  This page allows users to submit their grievance easily.</vt:lpstr>
      <vt:lpstr>Grievance Details Submission Page :  Here, users provide detailed information about their grievances and can upload image as proof </vt:lpstr>
      <vt:lpstr>PowerPoint Presentation</vt:lpstr>
      <vt:lpstr>Admin Dashboard:  This is the admin dashboard where the admin can view all grievances in one place </vt:lpstr>
      <vt:lpstr>Admin Grievance Management Page :  Admin can manage grievances by reviewing ,updating and resolving them</vt:lpstr>
      <vt:lpstr>Grievance Status Update :   Admin updates the status of grievances and users can track it in real time</vt:lpstr>
      <vt:lpstr>Report &amp; Analytics Page :  </vt:lpstr>
      <vt:lpstr>Conclusion :</vt:lpstr>
      <vt:lpstr>References :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somyaranawat1@gmail.com</cp:lastModifiedBy>
  <cp:revision>38</cp:revision>
  <dcterms:created xsi:type="dcterms:W3CDTF">2026-02-24T06:43:58Z</dcterms:created>
  <dcterms:modified xsi:type="dcterms:W3CDTF">2026-08-23T08:59:48Z</dcterms:modified>
</cp:coreProperties>
</file>